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Calibri"/>
              </a:defRPr>
            </a:pPr>
            <a:r>
              <a:t>File Renaming &amp; Postman Collection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latin typeface="Calibri"/>
              </a:defRPr>
            </a:pPr>
            <a:r>
              <a:t>Functionality and Features – Management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Calibri"/>
              </a:defRPr>
            </a:pPr>
            <a: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Automates renaming of test-case JSON files to a standard naming convention.</a:t>
            </a:r>
            <a:endParaRPr lang="en-IN" dirty="0"/>
          </a:p>
          <a:p>
            <a:pPr>
              <a:defRPr sz="1400">
                <a:latin typeface="Calibri"/>
              </a:defRPr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Generates Postman collections for API regression and smoke testing.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Supports WGS_CSBD, WGS_NYK, GBDF MCR, and GBDF GRS model types.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Optional </a:t>
            </a:r>
            <a:r>
              <a:rPr dirty="0" err="1"/>
              <a:t>RefDB</a:t>
            </a:r>
            <a:r>
              <a:rPr dirty="0"/>
              <a:t> value replacement (HCID, NPI, DOB, etc.) from </a:t>
            </a:r>
            <a:r>
              <a:rPr dirty="0" err="1"/>
              <a:t>refdb_values.json</a:t>
            </a:r>
            <a:r>
              <a:rPr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Produces Excel timing and processing reports for traceability.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Calibri"/>
              </a:defRPr>
            </a:pPr>
            <a:r>
              <a:t>Core 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File renaming: </a:t>
            </a:r>
            <a:endParaRPr lang="en-IN" dirty="0"/>
          </a:p>
          <a:p>
            <a:pPr>
              <a:defRPr sz="1400">
                <a:latin typeface="Calibri"/>
              </a:defRPr>
            </a:pPr>
            <a:r>
              <a:rPr lang="en-IN" dirty="0"/>
              <a:t>        </a:t>
            </a:r>
            <a:r>
              <a:rPr dirty="0"/>
              <a:t>Suffix mapping (</a:t>
            </a:r>
            <a:r>
              <a:rPr dirty="0" err="1"/>
              <a:t>sur→dis</a:t>
            </a:r>
            <a:r>
              <a:rPr dirty="0"/>
              <a:t>), </a:t>
            </a:r>
            <a:endParaRPr lang="en-IN" dirty="0"/>
          </a:p>
          <a:p>
            <a:pPr>
              <a:defRPr sz="1400">
                <a:latin typeface="Calibri"/>
              </a:defRPr>
            </a:pPr>
            <a:r>
              <a:rPr lang="en-IN" dirty="0"/>
              <a:t>         </a:t>
            </a:r>
            <a:r>
              <a:rPr dirty="0"/>
              <a:t>header/footer updates, </a:t>
            </a:r>
            <a:endParaRPr lang="en-IN" dirty="0"/>
          </a:p>
          <a:p>
            <a:pPr>
              <a:defRPr sz="1400">
                <a:latin typeface="Calibri"/>
              </a:defRPr>
            </a:pPr>
            <a:r>
              <a:rPr lang="en-IN" dirty="0"/>
              <a:t>         </a:t>
            </a:r>
            <a:r>
              <a:rPr dirty="0"/>
              <a:t>CLCL_ID/KEY_CHK_DCN_NBR where applicable.</a:t>
            </a:r>
            <a:endParaRPr lang="en-IN" dirty="0"/>
          </a:p>
          <a:p>
            <a:pPr>
              <a:defRPr sz="1400">
                <a:latin typeface="Calibri"/>
              </a:defRPr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Postman generation: Collections per model and test type (regression/smoke), configurable via .env.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 err="1"/>
              <a:t>RefDB</a:t>
            </a:r>
            <a:r>
              <a:rPr dirty="0"/>
              <a:t> replacement: For selected CSBDTS, NYKTS, and GBDF models when --</a:t>
            </a:r>
            <a:r>
              <a:rPr dirty="0" err="1"/>
              <a:t>refdb</a:t>
            </a:r>
            <a:r>
              <a:rPr dirty="0"/>
              <a:t> is used.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Reporting: Timing and status in Excel; can be turned on/off (ENABLE_REPORT_GENERATION).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Calibri"/>
              </a:defRPr>
            </a:pPr>
            <a: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Single CLI: main_processor.py with --</a:t>
            </a:r>
            <a:r>
              <a:rPr dirty="0" err="1"/>
              <a:t>wgs_csbd</a:t>
            </a:r>
            <a:r>
              <a:rPr dirty="0"/>
              <a:t>, --</a:t>
            </a:r>
            <a:r>
              <a:rPr dirty="0" err="1"/>
              <a:t>wgs_nyk</a:t>
            </a:r>
            <a:r>
              <a:rPr dirty="0"/>
              <a:t>, --</a:t>
            </a:r>
            <a:r>
              <a:rPr dirty="0" err="1"/>
              <a:t>gbdf_mcr</a:t>
            </a:r>
            <a:r>
              <a:rPr dirty="0"/>
              <a:t>, --</a:t>
            </a:r>
            <a:r>
              <a:rPr dirty="0" err="1"/>
              <a:t>gbdf_grs</a:t>
            </a:r>
            <a:r>
              <a:rPr dirty="0"/>
              <a:t>.</a:t>
            </a:r>
            <a:endParaRPr lang="en-IN" dirty="0"/>
          </a:p>
          <a:p>
            <a:pPr>
              <a:defRPr sz="1400">
                <a:latin typeface="Calibri"/>
              </a:defRPr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Model selection: --CSBDTSXX, --NYKTSXX, --GBDTSXX; --all for batch; --list to list models.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Configuration: .env for reports and Postman; </a:t>
            </a:r>
            <a:r>
              <a:rPr dirty="0" err="1"/>
              <a:t>refdb_values.json</a:t>
            </a:r>
            <a:r>
              <a:rPr dirty="0"/>
              <a:t> for replacement values.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Dynamic discovery: Detects source folders and model parameters from directory structure.</a:t>
            </a:r>
            <a:endParaRPr lang="en-IN" dirty="0"/>
          </a:p>
          <a:p>
            <a:pPr>
              <a:defRPr sz="1400">
                <a:latin typeface="Calibri"/>
              </a:defRPr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Outputs: </a:t>
            </a:r>
            <a:r>
              <a:rPr dirty="0" err="1"/>
              <a:t>renaming_jsons</a:t>
            </a:r>
            <a:r>
              <a:rPr dirty="0"/>
              <a:t>/, </a:t>
            </a:r>
            <a:r>
              <a:rPr dirty="0" err="1"/>
              <a:t>postman_collections</a:t>
            </a:r>
            <a:r>
              <a:rPr dirty="0"/>
              <a:t>/, reports/ (when enabled).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Calibri"/>
              </a:defRPr>
            </a:pPr>
            <a:r>
              <a:t>Benefits for the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Reduces manual work and errors in test data preparation.</a:t>
            </a:r>
            <a:endParaRPr lang="en-IN" dirty="0"/>
          </a:p>
          <a:p>
            <a:pPr>
              <a:defRPr sz="1400">
                <a:latin typeface="Calibri"/>
              </a:defRPr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Consistent naming and structure across teams and environments.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Faster API test setup with ready-made Postman collections.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Configurable and extensible for new models and environments.</a:t>
            </a:r>
            <a:endParaRPr lang="en-IN" dirty="0"/>
          </a:p>
          <a:p>
            <a:pPr>
              <a:defRPr sz="1400">
                <a:latin typeface="Calibri"/>
              </a:defRPr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dirty="0"/>
              <a:t>Suitable for presentation and submission to higher-level management.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DA046A-A51E-BA5D-0B34-79BB75B1986D}"/>
              </a:ext>
            </a:extLst>
          </p:cNvPr>
          <p:cNvSpPr txBox="1"/>
          <p:nvPr/>
        </p:nvSpPr>
        <p:spPr>
          <a:xfrm>
            <a:off x="457200" y="365760"/>
            <a:ext cx="5306261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Calibri"/>
              </a:defRPr>
            </a:pPr>
            <a:r>
              <a:rPr lang="en-US" sz="2800" b="1" dirty="0"/>
              <a:t>Healthcare Test Case Automation: </a:t>
            </a:r>
          </a:p>
          <a:p>
            <a:pPr>
              <a:defRPr sz="2800" b="1">
                <a:latin typeface="Calibri"/>
              </a:defRPr>
            </a:pPr>
            <a:r>
              <a:rPr lang="en-US" sz="2800" b="1" dirty="0"/>
              <a:t>Time Savings Analysis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3D82A5-14B5-F43A-3F6D-E40D802E518A}"/>
              </a:ext>
            </a:extLst>
          </p:cNvPr>
          <p:cNvSpPr txBox="1"/>
          <p:nvPr/>
        </p:nvSpPr>
        <p:spPr>
          <a:xfrm>
            <a:off x="457200" y="1527048"/>
            <a:ext cx="8229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lang="en-US" dirty="0"/>
              <a:t>Revolutionary Automation System</a:t>
            </a:r>
          </a:p>
          <a:p>
            <a:pPr>
              <a:defRPr sz="1400">
                <a:latin typeface="Calibri"/>
              </a:defRPr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lang="en-US" dirty="0"/>
              <a:t>99.98% Efficiency Improvement</a:t>
            </a:r>
          </a:p>
          <a:p>
            <a:pPr>
              <a:defRPr sz="1400">
                <a:latin typeface="Calibri"/>
              </a:defRPr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  <a:defRPr sz="1400">
                <a:latin typeface="Calibri"/>
              </a:defRPr>
            </a:pPr>
            <a:r>
              <a:rPr lang="en-US" dirty="0"/>
              <a:t>Transforming Healthcare Testing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58710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C0D874-A06D-890A-25D5-FF0E4FBEEF84}"/>
              </a:ext>
            </a:extLst>
          </p:cNvPr>
          <p:cNvSpPr txBox="1"/>
          <p:nvPr/>
        </p:nvSpPr>
        <p:spPr>
          <a:xfrm>
            <a:off x="457200" y="365760"/>
            <a:ext cx="296908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800" b="1" dirty="0"/>
              <a:t>Current</a:t>
            </a:r>
            <a:r>
              <a:rPr lang="en-IN" b="1" dirty="0"/>
              <a:t> </a:t>
            </a:r>
            <a:r>
              <a:rPr lang="en-IN" sz="2800" b="1" dirty="0"/>
              <a:t>Challenges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4FE616-3DF0-4EAB-4997-2C413D5CDDB6}"/>
              </a:ext>
            </a:extLst>
          </p:cNvPr>
          <p:cNvSpPr txBox="1"/>
          <p:nvPr/>
        </p:nvSpPr>
        <p:spPr>
          <a:xfrm>
            <a:off x="393192" y="1152144"/>
            <a:ext cx="82296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Manual Processing Bottlenecks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⏱️ 17+ minutes for 20 JSON files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🔄 24+ minutes for Bruno collections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👥 High labour costs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⚠️ Human error risks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📈 Scalability limitations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7A703B-FD1E-6BF5-240E-A5B037DA0BE2}"/>
              </a:ext>
            </a:extLst>
          </p:cNvPr>
          <p:cNvSpPr txBox="1"/>
          <p:nvPr/>
        </p:nvSpPr>
        <p:spPr>
          <a:xfrm>
            <a:off x="393192" y="3255264"/>
            <a:ext cx="381304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Intelligent Automation System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🚀 AUTO Mode: 181.12 </a:t>
            </a:r>
            <a:r>
              <a:rPr lang="en-IN" dirty="0" err="1"/>
              <a:t>ms</a:t>
            </a:r>
            <a:r>
              <a:rPr lang="en-IN" dirty="0"/>
              <a:t> total processing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🎯 Model Decision Mode: 182.69 </a:t>
            </a:r>
            <a:r>
              <a:rPr lang="en-IN" dirty="0" err="1"/>
              <a:t>ms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⚡ 99.98% faster than manual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🔄 Consistent quality output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📊 Real-time processing</a:t>
            </a:r>
          </a:p>
        </p:txBody>
      </p:sp>
    </p:spTree>
    <p:extLst>
      <p:ext uri="{BB962C8B-B14F-4D97-AF65-F5344CB8AC3E}">
        <p14:creationId xmlns:p14="http://schemas.microsoft.com/office/powerpoint/2010/main" val="3159394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E002E8-5AE9-D1CB-96AF-6E83E4AB0B71}"/>
              </a:ext>
            </a:extLst>
          </p:cNvPr>
          <p:cNvSpPr txBox="1"/>
          <p:nvPr/>
        </p:nvSpPr>
        <p:spPr>
          <a:xfrm>
            <a:off x="457200" y="365760"/>
            <a:ext cx="452399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3200" b="1" dirty="0"/>
              <a:t>Performance Comparison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2E8BE03-EA4E-E138-EE7A-74B1705C7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19482"/>
            <a:ext cx="5952744" cy="24934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726CE28-B7E0-DBDC-7D9F-52178BE5C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97963"/>
            <a:ext cx="5952744" cy="246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993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07B7EB-2F1D-52C6-1C63-3ACC50C642DC}"/>
              </a:ext>
            </a:extLst>
          </p:cNvPr>
          <p:cNvSpPr txBox="1"/>
          <p:nvPr/>
        </p:nvSpPr>
        <p:spPr>
          <a:xfrm>
            <a:off x="457200" y="365760"/>
            <a:ext cx="20285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800" b="1" dirty="0"/>
              <a:t>Key Benefits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0191F2-B151-E07F-89DA-715264817542}"/>
              </a:ext>
            </a:extLst>
          </p:cNvPr>
          <p:cNvSpPr txBox="1"/>
          <p:nvPr/>
        </p:nvSpPr>
        <p:spPr>
          <a:xfrm>
            <a:off x="457200" y="1232618"/>
            <a:ext cx="3995928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Strategic Advantages</a:t>
            </a:r>
            <a:endParaRPr lang="en-US" dirty="0"/>
          </a:p>
          <a:p>
            <a:r>
              <a:rPr lang="en-US" b="1" dirty="0"/>
              <a:t>Massive Efficiency Gains</a:t>
            </a:r>
            <a:endParaRPr lang="en-US" dirty="0"/>
          </a:p>
          <a:p>
            <a:pPr lvl="1"/>
            <a:r>
              <a:rPr lang="en-US" dirty="0"/>
              <a:t>99.98% time reduction</a:t>
            </a:r>
          </a:p>
          <a:p>
            <a:pPr lvl="1"/>
            <a:r>
              <a:rPr lang="en-US" dirty="0"/>
              <a:t>Near-instant processing</a:t>
            </a:r>
          </a:p>
          <a:p>
            <a:pPr lvl="1"/>
            <a:endParaRPr lang="en-US" dirty="0"/>
          </a:p>
          <a:p>
            <a:r>
              <a:rPr lang="en-US" b="1" dirty="0"/>
              <a:t>Quality Assurance</a:t>
            </a:r>
            <a:endParaRPr lang="en-US" dirty="0"/>
          </a:p>
          <a:p>
            <a:pPr lvl="1"/>
            <a:r>
              <a:rPr lang="en-US" dirty="0"/>
              <a:t>Zero human error</a:t>
            </a:r>
          </a:p>
          <a:p>
            <a:pPr lvl="1"/>
            <a:r>
              <a:rPr lang="en-US" dirty="0"/>
              <a:t>Consistent output</a:t>
            </a:r>
          </a:p>
          <a:p>
            <a:pPr lvl="1"/>
            <a:endParaRPr lang="en-US" dirty="0"/>
          </a:p>
          <a:p>
            <a:r>
              <a:rPr lang="en-US" b="1" dirty="0"/>
              <a:t>Business Agility</a:t>
            </a:r>
            <a:endParaRPr lang="en-US" dirty="0"/>
          </a:p>
          <a:p>
            <a:pPr lvl="1"/>
            <a:r>
              <a:rPr lang="en-US" dirty="0"/>
              <a:t>Faster time-to-market</a:t>
            </a:r>
          </a:p>
          <a:p>
            <a:pPr lvl="1"/>
            <a:r>
              <a:rPr lang="en-US" dirty="0"/>
              <a:t>Rapid testing cycles</a:t>
            </a:r>
          </a:p>
          <a:p>
            <a:pPr lvl="1"/>
            <a:endParaRPr lang="en-US" dirty="0"/>
          </a:p>
          <a:p>
            <a:r>
              <a:rPr lang="en-US" b="1" dirty="0"/>
              <a:t>Cost Optimization</a:t>
            </a:r>
            <a:endParaRPr lang="en-US" dirty="0"/>
          </a:p>
          <a:p>
            <a:pPr lvl="1"/>
            <a:r>
              <a:rPr lang="en-US" dirty="0"/>
              <a:t>Significant labor savings</a:t>
            </a:r>
          </a:p>
          <a:p>
            <a:pPr lvl="1"/>
            <a:r>
              <a:rPr lang="en-US" dirty="0"/>
              <a:t>Reduced operational costs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9026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AF41EF-17B9-1841-2E2F-348AC4B1BFD7}"/>
              </a:ext>
            </a:extLst>
          </p:cNvPr>
          <p:cNvSpPr txBox="1"/>
          <p:nvPr/>
        </p:nvSpPr>
        <p:spPr>
          <a:xfrm>
            <a:off x="457200" y="365760"/>
            <a:ext cx="3740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800" b="1" dirty="0"/>
              <a:t>Implementation 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969928-55A6-F99D-E6EF-F361A1816D1D}"/>
              </a:ext>
            </a:extLst>
          </p:cNvPr>
          <p:cNvSpPr txBox="1"/>
          <p:nvPr/>
        </p:nvSpPr>
        <p:spPr>
          <a:xfrm>
            <a:off x="457200" y="1033272"/>
            <a:ext cx="82296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Real-World Performance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/>
              <a:t>Successfully Tested</a:t>
            </a:r>
            <a:r>
              <a:rPr lang="en-US" dirty="0"/>
              <a:t>: 20 JSON files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 </a:t>
            </a:r>
            <a:r>
              <a:rPr lang="en-US" b="1" dirty="0"/>
              <a:t>Processing Time</a:t>
            </a:r>
            <a:r>
              <a:rPr lang="en-US" dirty="0"/>
              <a:t>: 181.12 </a:t>
            </a:r>
            <a:r>
              <a:rPr lang="en-US" dirty="0" err="1"/>
              <a:t>ms</a:t>
            </a:r>
            <a:r>
              <a:rPr lang="en-US" dirty="0"/>
              <a:t>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 </a:t>
            </a:r>
            <a:r>
              <a:rPr lang="en-US" b="1" dirty="0"/>
              <a:t>Accuracy</a:t>
            </a:r>
            <a:r>
              <a:rPr lang="en-US" dirty="0"/>
              <a:t>: 100%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 </a:t>
            </a:r>
            <a:r>
              <a:rPr lang="en-US" b="1" dirty="0"/>
              <a:t>User Satisfaction</a:t>
            </a:r>
            <a:r>
              <a:rPr lang="en-US" dirty="0"/>
              <a:t>: High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 </a:t>
            </a:r>
            <a:r>
              <a:rPr lang="en-US" b="1" dirty="0"/>
              <a:t>System Stability</a:t>
            </a:r>
            <a:r>
              <a:rPr lang="en-US" dirty="0"/>
              <a:t>: Excellent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74F2A0-A284-C396-DC3B-DFF70DE784CB}"/>
              </a:ext>
            </a:extLst>
          </p:cNvPr>
          <p:cNvSpPr txBox="1"/>
          <p:nvPr/>
        </p:nvSpPr>
        <p:spPr>
          <a:xfrm>
            <a:off x="457200" y="3209544"/>
            <a:ext cx="267733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800" b="1" dirty="0"/>
              <a:t>Future Roadmap</a:t>
            </a:r>
          </a:p>
          <a:p>
            <a:endParaRPr lang="en-I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4DF93-6E17-D5E0-54D2-EFBCFE94FA30}"/>
              </a:ext>
            </a:extLst>
          </p:cNvPr>
          <p:cNvSpPr txBox="1"/>
          <p:nvPr/>
        </p:nvSpPr>
        <p:spPr>
          <a:xfrm>
            <a:off x="457200" y="3941064"/>
            <a:ext cx="369364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Next Steps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 Scale to 500+ files/day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 Multi-department deployment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 Integration with existing systems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 Advanced analytics dashboard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 Enhanced security features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33393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A0FA9E2-AD71-16CB-2A4B-D80F73A302EC}"/>
              </a:ext>
            </a:extLst>
          </p:cNvPr>
          <p:cNvSpPr txBox="1"/>
          <p:nvPr/>
        </p:nvSpPr>
        <p:spPr>
          <a:xfrm>
            <a:off x="457200" y="365760"/>
            <a:ext cx="180690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Calibri"/>
              </a:defRPr>
            </a:pPr>
            <a:r>
              <a:rPr lang="en-IN" sz="2800" b="1" dirty="0"/>
              <a:t>Conclusion</a:t>
            </a:r>
          </a:p>
          <a:p>
            <a:pPr>
              <a:defRPr sz="2800" b="1">
                <a:latin typeface="Calibri"/>
              </a:defRPr>
            </a:pP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CA5DB7-9D5F-EA0E-B8F5-A3DDA6830240}"/>
              </a:ext>
            </a:extLst>
          </p:cNvPr>
          <p:cNvSpPr txBox="1"/>
          <p:nvPr/>
        </p:nvSpPr>
        <p:spPr>
          <a:xfrm>
            <a:off x="457200" y="1527048"/>
            <a:ext cx="8229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latin typeface="Calibri"/>
              </a:defRPr>
            </a:pPr>
            <a:r>
              <a:rPr lang="en-US" sz="1600" i="1" dirty="0"/>
              <a:t>“From hours to milliseconds - Revolutionizing healthcare test case automation"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817367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516</Words>
  <Application>Microsoft Office PowerPoint</Application>
  <PresentationFormat>On-screen Show (4:3)</PresentationFormat>
  <Paragraphs>97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Vishnupriyan Natarajan</cp:lastModifiedBy>
  <cp:revision>9</cp:revision>
  <dcterms:created xsi:type="dcterms:W3CDTF">2013-01-27T09:14:16Z</dcterms:created>
  <dcterms:modified xsi:type="dcterms:W3CDTF">2026-02-24T02:42:09Z</dcterms:modified>
  <cp:category/>
</cp:coreProperties>
</file>